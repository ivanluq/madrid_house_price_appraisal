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dju5FGB51hiLeZfbvIS/Z0l07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ulian Loren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9B6E58-EBA6-4B7E-89AB-ECDEEB5056E0}">
  <a:tblStyle styleId="{6D9B6E58-EBA6-4B7E-89AB-ECDEEB5056E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17T11:53:53.329">
    <p:pos x="6000" y="0"/>
    <p:text>Change slide numbers in the end!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kAenk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2bf401ff6_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g3e2bf401ff6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g3e2bf401ff6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e2bf401ff6_3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g3e2bf401ff6_3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e2bf401ff6_3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2bf401ff6_3_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e2bf401ff6_3_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e2bf401ff6_3_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bf401ff6_3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e2bf401ff6_3_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e2bf401ff6_3_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2bf401ff6_3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e2bf401ff6_3_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e2bf401ff6_3_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2b01d1d6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2b01d1d6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2b01d1d69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2b01d1d69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e2b01d1d69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2b01d1d69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2b01d1d69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2b01d1d69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2b01d1d69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2b01d1d69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e2b01d1d69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2b01d1d69_1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2b01d1d69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e2b01d1d69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2b01d1d69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2bf401ff6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e2bf401ff6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2bf401ff6_2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e2bf401ff6_2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000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457200"/>
            <a:ext cx="365760" cy="45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APPLIED DATA SCIENCE  ·  T-786-APDS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Data Science Approach to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Predicting Property Prices in Madrid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7947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Davíð Rúnar Matthíasson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Iván Luque García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Julian Lorenz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943600" y="452628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CF6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Reykjavík University  ·  May 17,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e2bf401ff6_3_0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1  ·  INTRODUCTION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e2bf401ff6_3_0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Predicting Madrid asking prices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e2bf401ff6_3_0"/>
          <p:cNvSpPr/>
          <p:nvPr/>
        </p:nvSpPr>
        <p:spPr>
          <a:xfrm>
            <a:off x="365760" y="1417320"/>
            <a:ext cx="512064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e2bf401ff6_3_0"/>
          <p:cNvSpPr/>
          <p:nvPr/>
        </p:nvSpPr>
        <p:spPr>
          <a:xfrm>
            <a:off x="365760" y="1417320"/>
            <a:ext cx="54864" cy="310896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e2bf401ff6_3_0"/>
          <p:cNvSpPr/>
          <p:nvPr/>
        </p:nvSpPr>
        <p:spPr>
          <a:xfrm>
            <a:off x="594360" y="15544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The task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e2bf401ff6_3_0"/>
          <p:cNvSpPr/>
          <p:nvPr/>
        </p:nvSpPr>
        <p:spPr>
          <a:xfrm>
            <a:off x="594360" y="1920240"/>
            <a:ext cx="4709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Supervised regression: estimate the listed </a:t>
            </a:r>
            <a:r>
              <a:rPr b="1" lang="en-US" sz="13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asking price</a:t>
            </a:r>
            <a:r>
              <a:rPr lang="en-US" sz="13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of a Madrid residential property from its structured listing attributes.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A3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A3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target is what sellers ask, </a:t>
            </a:r>
            <a:r>
              <a:rPr i="1" lang="en-US" sz="13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13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what buyers ultimately pay — the model is a decision-support tool, not an appraisal.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project follows an end-to-end ML workflow — preprocessing, model comparison, evaluation, interpretation</a:t>
            </a:r>
            <a:endParaRPr sz="130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e2bf401ff6_3_0"/>
          <p:cNvSpPr/>
          <p:nvPr/>
        </p:nvSpPr>
        <p:spPr>
          <a:xfrm>
            <a:off x="5669280" y="1417320"/>
            <a:ext cx="3108960" cy="310896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e2bf401ff6_3_0"/>
          <p:cNvSpPr/>
          <p:nvPr/>
        </p:nvSpPr>
        <p:spPr>
          <a:xfrm>
            <a:off x="5852160" y="15544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Research questions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e2bf401ff6_3_0"/>
          <p:cNvSpPr/>
          <p:nvPr/>
        </p:nvSpPr>
        <p:spPr>
          <a:xfrm>
            <a:off x="5852160" y="1920240"/>
            <a:ext cx="2743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Which ML model achieves the best predictive performance for Madrid asking prices?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How much does the best model improve over simpler baselines — and is the gain worth the added complexity?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e2bf401ff6_3_0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e2bf401ff6_3_0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2 / 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2bf401ff6_3_17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2  ·  THE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e2bf401ff6_3_17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Madrid Real Estate Market dataset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e2bf401ff6_3_17"/>
          <p:cNvSpPr/>
          <p:nvPr/>
        </p:nvSpPr>
        <p:spPr>
          <a:xfrm>
            <a:off x="365760" y="1463040"/>
            <a:ext cx="196596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e2bf401ff6_3_17"/>
          <p:cNvSpPr/>
          <p:nvPr/>
        </p:nvSpPr>
        <p:spPr>
          <a:xfrm>
            <a:off x="365760" y="1640507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21,742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e2bf401ff6_3_17"/>
          <p:cNvSpPr/>
          <p:nvPr/>
        </p:nvSpPr>
        <p:spPr>
          <a:xfrm>
            <a:off x="365760" y="2189147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listings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e2bf401ff6_3_17"/>
          <p:cNvSpPr/>
          <p:nvPr/>
        </p:nvSpPr>
        <p:spPr>
          <a:xfrm>
            <a:off x="2514600" y="1463040"/>
            <a:ext cx="196596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e2bf401ff6_3_17"/>
          <p:cNvSpPr/>
          <p:nvPr/>
        </p:nvSpPr>
        <p:spPr>
          <a:xfrm>
            <a:off x="2514600" y="1640507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58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e2bf401ff6_3_17"/>
          <p:cNvSpPr/>
          <p:nvPr/>
        </p:nvSpPr>
        <p:spPr>
          <a:xfrm>
            <a:off x="2514600" y="2189147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raw attributes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e2bf401ff6_3_17"/>
          <p:cNvSpPr/>
          <p:nvPr/>
        </p:nvSpPr>
        <p:spPr>
          <a:xfrm>
            <a:off x="4663440" y="1463040"/>
            <a:ext cx="196596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e2bf401ff6_3_17"/>
          <p:cNvSpPr/>
          <p:nvPr/>
        </p:nvSpPr>
        <p:spPr>
          <a:xfrm>
            <a:off x="4663440" y="15544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2020 snapshot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e2bf401ff6_3_17"/>
          <p:cNvSpPr/>
          <p:nvPr/>
        </p:nvSpPr>
        <p:spPr>
          <a:xfrm>
            <a:off x="4617720" y="2192756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collection window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e2bf401ff6_3_17"/>
          <p:cNvSpPr/>
          <p:nvPr/>
        </p:nvSpPr>
        <p:spPr>
          <a:xfrm>
            <a:off x="6812280" y="1463040"/>
            <a:ext cx="196596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e2bf401ff6_3_17"/>
          <p:cNvSpPr/>
          <p:nvPr/>
        </p:nvSpPr>
        <p:spPr>
          <a:xfrm>
            <a:off x="6812280" y="15544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€36k – €8.8M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e2bf401ff6_3_17"/>
          <p:cNvSpPr/>
          <p:nvPr/>
        </p:nvSpPr>
        <p:spPr>
          <a:xfrm>
            <a:off x="6812280" y="2189147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asking-price range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e2bf401ff6_3_17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Most important variables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e2bf401ff6_3_17"/>
          <p:cNvSpPr/>
          <p:nvPr/>
        </p:nvSpPr>
        <p:spPr>
          <a:xfrm>
            <a:off x="365760" y="306324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990011"/>
                </a:solidFill>
                <a:latin typeface="Consolas"/>
                <a:ea typeface="Consolas"/>
                <a:cs typeface="Consolas"/>
                <a:sym typeface="Consolas"/>
              </a:rPr>
              <a:t>buy_price</a:t>
            </a: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 —  Listed asking price in € — the regression target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e2bf401ff6_3_17"/>
          <p:cNvSpPr/>
          <p:nvPr/>
        </p:nvSpPr>
        <p:spPr>
          <a:xfrm>
            <a:off x="4617720" y="306324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990011"/>
                </a:solidFill>
                <a:latin typeface="Consolas"/>
                <a:ea typeface="Consolas"/>
                <a:cs typeface="Consolas"/>
                <a:sym typeface="Consolas"/>
              </a:rPr>
              <a:t>sq_mt_built</a:t>
            </a: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 —  Built surface area in m²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e2bf401ff6_3_17"/>
          <p:cNvSpPr/>
          <p:nvPr/>
        </p:nvSpPr>
        <p:spPr>
          <a:xfrm>
            <a:off x="365760" y="356616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990011"/>
                </a:solidFill>
                <a:latin typeface="Consolas"/>
                <a:ea typeface="Consolas"/>
                <a:cs typeface="Consolas"/>
                <a:sym typeface="Consolas"/>
              </a:rPr>
              <a:t>n_rooms / n_bathrooms</a:t>
            </a: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 —  Structural counts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e2bf401ff6_3_17"/>
          <p:cNvSpPr/>
          <p:nvPr/>
        </p:nvSpPr>
        <p:spPr>
          <a:xfrm>
            <a:off x="4617720" y="356616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990011"/>
                </a:solidFill>
                <a:latin typeface="Consolas"/>
                <a:ea typeface="Consolas"/>
                <a:cs typeface="Consolas"/>
                <a:sym typeface="Consolas"/>
              </a:rPr>
              <a:t>built_year</a:t>
            </a: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 —  Year of construction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e2bf401ff6_3_17"/>
          <p:cNvSpPr/>
          <p:nvPr/>
        </p:nvSpPr>
        <p:spPr>
          <a:xfrm>
            <a:off x="365760" y="4069080"/>
            <a:ext cx="38813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90011"/>
                </a:solidFill>
                <a:latin typeface="Consolas"/>
                <a:ea typeface="Consolas"/>
                <a:cs typeface="Consolas"/>
                <a:sym typeface="Consolas"/>
              </a:rPr>
              <a:t>neighborhood_id</a:t>
            </a: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 — 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location string; district number extracted as district_id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e2bf401ff6_3_17"/>
          <p:cNvSpPr/>
          <p:nvPr/>
        </p:nvSpPr>
        <p:spPr>
          <a:xfrm>
            <a:off x="4617720" y="406908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90011"/>
                </a:solidFill>
                <a:latin typeface="Consolas"/>
                <a:ea typeface="Consolas"/>
                <a:cs typeface="Consolas"/>
                <a:sym typeface="Consolas"/>
              </a:rPr>
              <a:t>Amenity flags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 Binary indicators for property features (AC, lift, parking, pool, garden, …)</a:t>
            </a:r>
            <a:endParaRPr/>
          </a:p>
        </p:txBody>
      </p:sp>
      <p:sp>
        <p:nvSpPr>
          <p:cNvPr id="63" name="Google Shape;63;g3e2bf401ff6_3_17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e2bf401ff6_3_17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3 / 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2bf401ff6_3_44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2  ·  EDA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2bf401ff6_3_44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Exploratory data analysis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/fig3_eda.png" id="72" name="Google Shape;72;g3e2bf401ff6_3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371600"/>
            <a:ext cx="4937760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e2bf401ff6_3_44"/>
          <p:cNvSpPr/>
          <p:nvPr/>
        </p:nvSpPr>
        <p:spPr>
          <a:xfrm>
            <a:off x="5486400" y="1508760"/>
            <a:ext cx="54864" cy="1024577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2bf401ff6_3_44"/>
          <p:cNvSpPr/>
          <p:nvPr/>
        </p:nvSpPr>
        <p:spPr>
          <a:xfrm>
            <a:off x="5623560" y="163671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Size and rooms are the strongest predictors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e2bf401ff6_3_44"/>
          <p:cNvSpPr/>
          <p:nvPr/>
        </p:nvSpPr>
        <p:spPr>
          <a:xfrm>
            <a:off x="5623560" y="204459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sq_mt_built, n_bathrooms and n_rooms are the three features most correlated with price (R² = 0.692 for a univariate fit on size)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e2bf401ff6_3_44"/>
          <p:cNvSpPr/>
          <p:nvPr/>
        </p:nvSpPr>
        <p:spPr>
          <a:xfrm>
            <a:off x="5486400" y="2670497"/>
            <a:ext cx="54864" cy="68580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e2bf401ff6_3_44"/>
          <p:cNvSpPr/>
          <p:nvPr/>
        </p:nvSpPr>
        <p:spPr>
          <a:xfrm>
            <a:off x="5623560" y="2670497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Districts vary, but coarsely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e2bf401ff6_3_44"/>
          <p:cNvSpPr/>
          <p:nvPr/>
        </p:nvSpPr>
        <p:spPr>
          <a:xfrm>
            <a:off x="5623560" y="2944817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Top-10 district medians span more than a 3× range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e2bf401ff6_3_44"/>
          <p:cNvSpPr/>
          <p:nvPr/>
        </p:nvSpPr>
        <p:spPr>
          <a:xfrm>
            <a:off x="5486400" y="3493456"/>
            <a:ext cx="54864" cy="68580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e2bf401ff6_3_44"/>
          <p:cNvSpPr/>
          <p:nvPr/>
        </p:nvSpPr>
        <p:spPr>
          <a:xfrm>
            <a:off x="5623560" y="34934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Sparse / leaky columns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e2bf401ff6_3_44"/>
          <p:cNvSpPr/>
          <p:nvPr/>
        </p:nvSpPr>
        <p:spPr>
          <a:xfrm>
            <a:off x="5623560" y="376777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Several columns with high missingness or price-derived → flagged for removal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e2bf401ff6_3_44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e2bf401ff6_3_44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4 / 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2bf401ff6_3_62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2  ·  EDA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e2bf401ff6_3_6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Log-transform, and the district problem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/fig2_log_transform.png" id="91" name="Google Shape;91;g3e2bf401ff6_3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371600"/>
            <a:ext cx="4206240" cy="1691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s/fig4_district_box.png" id="92" name="Google Shape;92;g3e2bf401ff6_3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371600"/>
            <a:ext cx="4023360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e2bf401ff6_3_62"/>
          <p:cNvSpPr/>
          <p:nvPr/>
        </p:nvSpPr>
        <p:spPr>
          <a:xfrm>
            <a:off x="365760" y="3520440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e2bf401ff6_3_62"/>
          <p:cNvSpPr/>
          <p:nvPr/>
        </p:nvSpPr>
        <p:spPr>
          <a:xfrm>
            <a:off x="548640" y="35844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Takeaway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e2bf401ff6_3_62"/>
          <p:cNvSpPr/>
          <p:nvPr/>
        </p:nvSpPr>
        <p:spPr>
          <a:xfrm>
            <a:off x="548640" y="3822192"/>
            <a:ext cx="38789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Raw buy_price is heavily right-skewed (skew 3.49); a log transform brings it close to symmetric (skew 0.46) and is the form used during training.</a:t>
            </a:r>
            <a:endParaRPr sz="10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2bf401ff6_3_62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2bf401ff6_3_62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5 / 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2bf401ff6_3_62"/>
          <p:cNvSpPr/>
          <p:nvPr/>
        </p:nvSpPr>
        <p:spPr>
          <a:xfrm>
            <a:off x="4754880" y="3523648"/>
            <a:ext cx="402336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e2bf401ff6_3_62"/>
          <p:cNvSpPr/>
          <p:nvPr/>
        </p:nvSpPr>
        <p:spPr>
          <a:xfrm>
            <a:off x="4937760" y="35876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Takeaway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e2bf401ff6_3_62"/>
          <p:cNvSpPr/>
          <p:nvPr/>
        </p:nvSpPr>
        <p:spPr>
          <a:xfrm>
            <a:off x="4937761" y="38254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Within-district spread grows sharply with median price; a single district dummy captures an average effect, not a precise location premium.</a:t>
            </a:r>
            <a:endParaRPr sz="10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2bf401ff6_3_78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3  ·  DATA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2bf401ff6_3_78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Preprocessing pipeline &amp; model families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2bf401ff6_3_78"/>
          <p:cNvSpPr/>
          <p:nvPr/>
        </p:nvSpPr>
        <p:spPr>
          <a:xfrm>
            <a:off x="365760" y="1417320"/>
            <a:ext cx="548640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2bf401ff6_3_78"/>
          <p:cNvSpPr/>
          <p:nvPr/>
        </p:nvSpPr>
        <p:spPr>
          <a:xfrm>
            <a:off x="365760" y="1417320"/>
            <a:ext cx="54864" cy="310896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e2bf401ff6_3_78"/>
          <p:cNvSpPr/>
          <p:nvPr/>
        </p:nvSpPr>
        <p:spPr>
          <a:xfrm>
            <a:off x="594360" y="1508760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Pipeline (leakage-controlled)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2bf401ff6_3_78"/>
          <p:cNvSpPr/>
          <p:nvPr/>
        </p:nvSpPr>
        <p:spPr>
          <a:xfrm>
            <a:off x="594360" y="1828800"/>
            <a:ext cx="51663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Pre-split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 duplicate removal — applied to the raw dataframe before any statistical step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9900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 80 / 20 random split, random_state = 42 ( around 17,400 train / 4,300 test)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9900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Post-split  (every transform fit on training only)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100"/>
              </a:spcBef>
              <a:spcAft>
                <a:spcPts val="0"/>
              </a:spcAft>
              <a:buClr>
                <a:srgbClr val="99001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Imputation — mode for orientation, False for amenities, district-median for built_year</a:t>
            </a:r>
            <a:endParaRPr sz="10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Column curation — drop features &gt; 60% missing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Encoding — drop admin/leakage columns; require non-null core features; extract district_id &amp; neighbourhood_id via regex; one-hot encoding with drop_first 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Anomaly removal — Isolation Forest drops 50 most extreme train-set rows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Target transform — log of buy_price</a:t>
            </a:r>
            <a:endParaRPr sz="10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2bf401ff6_3_78"/>
          <p:cNvSpPr/>
          <p:nvPr/>
        </p:nvSpPr>
        <p:spPr>
          <a:xfrm>
            <a:off x="6035040" y="1417320"/>
            <a:ext cx="274320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2bf401ff6_3_78"/>
          <p:cNvSpPr/>
          <p:nvPr/>
        </p:nvSpPr>
        <p:spPr>
          <a:xfrm>
            <a:off x="6035040" y="1417320"/>
            <a:ext cx="54864" cy="3108960"/>
          </a:xfrm>
          <a:prstGeom prst="rect">
            <a:avLst/>
          </a:prstGeom>
          <a:solidFill>
            <a:srgbClr val="2F3C7E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2bf401ff6_3_78"/>
          <p:cNvSpPr/>
          <p:nvPr/>
        </p:nvSpPr>
        <p:spPr>
          <a:xfrm>
            <a:off x="6217920" y="15087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Models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e2bf401ff6_3_78"/>
          <p:cNvSpPr/>
          <p:nvPr/>
        </p:nvSpPr>
        <p:spPr>
          <a:xfrm>
            <a:off x="6217920" y="1874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2F3C7E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2bf401ff6_3_78"/>
          <p:cNvSpPr/>
          <p:nvPr/>
        </p:nvSpPr>
        <p:spPr>
          <a:xfrm>
            <a:off x="6858000" y="19659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models compared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across 3 families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2bf401ff6_3_78"/>
          <p:cNvSpPr/>
          <p:nvPr/>
        </p:nvSpPr>
        <p:spPr>
          <a:xfrm>
            <a:off x="6217920" y="2926080"/>
            <a:ext cx="109728" cy="109728"/>
          </a:xfrm>
          <a:prstGeom prst="ellipse">
            <a:avLst/>
          </a:prstGeom>
          <a:solidFill>
            <a:srgbClr val="2F3C7E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2bf401ff6_3_78"/>
          <p:cNvSpPr/>
          <p:nvPr/>
        </p:nvSpPr>
        <p:spPr>
          <a:xfrm>
            <a:off x="6400800" y="28163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Regularised linear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2bf401ff6_3_78"/>
          <p:cNvSpPr/>
          <p:nvPr/>
        </p:nvSpPr>
        <p:spPr>
          <a:xfrm>
            <a:off x="6217920" y="3337560"/>
            <a:ext cx="109728" cy="109728"/>
          </a:xfrm>
          <a:prstGeom prst="ellipse">
            <a:avLst/>
          </a:prstGeom>
          <a:solidFill>
            <a:srgbClr val="2F3C7E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2bf401ff6_3_78"/>
          <p:cNvSpPr/>
          <p:nvPr/>
        </p:nvSpPr>
        <p:spPr>
          <a:xfrm>
            <a:off x="6400800" y="3227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Bagging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e2bf401ff6_3_78"/>
          <p:cNvSpPr/>
          <p:nvPr/>
        </p:nvSpPr>
        <p:spPr>
          <a:xfrm>
            <a:off x="6217920" y="3749040"/>
            <a:ext cx="109728" cy="109728"/>
          </a:xfrm>
          <a:prstGeom prst="ellipse">
            <a:avLst/>
          </a:prstGeom>
          <a:solidFill>
            <a:srgbClr val="2F3C7E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2bf401ff6_3_78"/>
          <p:cNvSpPr/>
          <p:nvPr/>
        </p:nvSpPr>
        <p:spPr>
          <a:xfrm>
            <a:off x="6400800" y="363931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2bf401ff6_3_78"/>
          <p:cNvSpPr/>
          <p:nvPr/>
        </p:nvSpPr>
        <p:spPr>
          <a:xfrm>
            <a:off x="6217920" y="41605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2bf401ff6_3_78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e2bf401ff6_3_78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6 / 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4  · 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Five complementary metrics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65760" y="1417320"/>
            <a:ext cx="1097280" cy="50292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65760" y="14173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600200" y="1417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Coefficient of determination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434840" y="141732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Variance explained (on log scale</a:t>
            </a: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- less variance </a:t>
            </a:r>
            <a:r>
              <a:rPr b="0" i="0" lang="en-US" sz="11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2011680"/>
            <a:ext cx="1097280" cy="50292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65760" y="20116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600200" y="20116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Mean Absolute Error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434840" y="201168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Average monetary deviation in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65760" y="2606040"/>
            <a:ext cx="1097280" cy="50292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65760" y="26060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RMSE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600200" y="26060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Root Mean Squared Error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434840" y="260604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Penalises large </a:t>
            </a: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1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rrors </a:t>
            </a: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luxury-segment)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60" y="3200400"/>
            <a:ext cx="1097280" cy="50292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65760" y="320040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MedAE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600200" y="3200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Median Absolute Error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434840" y="320040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11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Typical</a:t>
            </a: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0" i="0" lang="en-US" sz="11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error, robust to outliers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65760" y="3794760"/>
            <a:ext cx="1097280" cy="50292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365760" y="379476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600200" y="37947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Mean Absolute Percentage Error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434840" y="379476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Scale-invariant comparison across price segments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Error metrics are back-transformed to euros with expm1 before reporting so they stay directly interpretable.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7 / 1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5  · 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Nested cross-validation performance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8"/>
          <p:cNvGraphicFramePr/>
          <p:nvPr/>
        </p:nvGraphicFramePr>
        <p:xfrm>
          <a:off x="36576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{6D9B6E58-EBA6-4B7E-89AB-ECDEEB5056E0}</a:tableStyleId>
              </a:tblPr>
              <a:tblGrid>
                <a:gridCol w="1554475"/>
                <a:gridCol w="640075"/>
                <a:gridCol w="1005850"/>
                <a:gridCol w="1005850"/>
                <a:gridCol w="1005850"/>
                <a:gridCol w="64007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(€)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MedAE (€)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 (€)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Regression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163,163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50,390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459,055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20.41%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Ridge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161,255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52,457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396,455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21.38%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ElasticNet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164,429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50,539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464,218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A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20.55%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876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RandomForest</a:t>
                      </a:r>
                      <a:endParaRPr sz="1100" u="none" cap="none" strike="noStrike">
                        <a:solidFill>
                          <a:srgbClr val="3876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876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0.918</a:t>
                      </a:r>
                      <a:endParaRPr sz="1100" u="none" cap="none" strike="noStrike">
                        <a:solidFill>
                          <a:srgbClr val="3876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876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132,155</a:t>
                      </a:r>
                      <a:endParaRPr sz="1100" u="none" cap="none" strike="noStrike">
                        <a:solidFill>
                          <a:srgbClr val="3876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876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48,620</a:t>
                      </a:r>
                      <a:endParaRPr sz="1100" u="none" cap="none" strike="noStrike">
                        <a:solidFill>
                          <a:srgbClr val="3876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876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299,292</a:t>
                      </a:r>
                      <a:endParaRPr sz="1100" u="none" cap="none" strike="noStrike">
                        <a:solidFill>
                          <a:srgbClr val="3876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876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19.57%</a:t>
                      </a:r>
                      <a:endParaRPr sz="1100" u="none" cap="none" strike="noStrike">
                        <a:solidFill>
                          <a:srgbClr val="3876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GradientBoosting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0.951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107,687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38,203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246,470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15.05%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0.951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107,057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37,234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249,491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A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14.95%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900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LightGBM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900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900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104,956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900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36,086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900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237,751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900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14.58%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7F4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6F5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8"/>
          <p:cNvSpPr/>
          <p:nvPr/>
        </p:nvSpPr>
        <p:spPr>
          <a:xfrm>
            <a:off x="365760" y="41148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Table 2  ·  5-fold outer / 3-fold inner nested CV via RandomizedSearchCV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446520" y="1417320"/>
            <a:ext cx="2331720" cy="310896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583680" y="15544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LightGBM wins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560830" y="1874525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≈ 48%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560768" y="2148733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6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RMSE reduction vs linear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8 / 1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6519824" y="2612525"/>
            <a:ext cx="2184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BUT: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Training speed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Inference speed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Complexity/XAI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Significantly improvements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2b01d1d69_0_4"/>
          <p:cNvSpPr/>
          <p:nvPr/>
        </p:nvSpPr>
        <p:spPr>
          <a:xfrm>
            <a:off x="365760" y="3200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5  · 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2b01d1d69_0_4"/>
          <p:cNvSpPr/>
          <p:nvPr/>
        </p:nvSpPr>
        <p:spPr>
          <a:xfrm>
            <a:off x="365760" y="59436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Learning Curves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2b01d1d69_0_4"/>
          <p:cNvSpPr/>
          <p:nvPr/>
        </p:nvSpPr>
        <p:spPr>
          <a:xfrm>
            <a:off x="554875" y="1336425"/>
            <a:ext cx="3640200" cy="40020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2b01d1d69_0_4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2b01d1d69_0_4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e2b01d1d69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875" y="1838475"/>
            <a:ext cx="3640193" cy="271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e2b01d1d69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2496" y="1850339"/>
            <a:ext cx="3454067" cy="268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e2b01d1d69_0_4"/>
          <p:cNvSpPr txBox="1"/>
          <p:nvPr/>
        </p:nvSpPr>
        <p:spPr>
          <a:xfrm>
            <a:off x="1568475" y="1336413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Raw Pricing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5" name="Google Shape;185;g3e2b01d1d69_0_4"/>
          <p:cNvSpPr/>
          <p:nvPr/>
        </p:nvSpPr>
        <p:spPr>
          <a:xfrm>
            <a:off x="5012425" y="1342350"/>
            <a:ext cx="3454200" cy="40020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2b01d1d69_0_4"/>
          <p:cNvSpPr txBox="1"/>
          <p:nvPr/>
        </p:nvSpPr>
        <p:spPr>
          <a:xfrm>
            <a:off x="6088925" y="1342350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Log Pricing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5  ·  INTERPRETATION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SHAP: what the model learned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/fig5_shap_global.png"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76" y="1365225"/>
            <a:ext cx="3318401" cy="27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279160" y="4251948"/>
            <a:ext cx="283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Figure 5  ·  Mean |SHAP|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/fig6_shap_beeswarm.png"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9663" y="1365238"/>
            <a:ext cx="2560200" cy="27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3271428" y="4219943"/>
            <a:ext cx="256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Figure 6  ·  SHAP beeswarm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339320" y="1276070"/>
            <a:ext cx="54900" cy="310890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583675" y="1365220"/>
            <a:ext cx="25602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Built surface dominates </a:t>
            </a: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menities (pool, AC, heating, storage) </a:t>
            </a: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tructural variables (bathrooms, build year)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Some high</a:t>
            </a: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priced</a:t>
            </a: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districts push predictions </a:t>
            </a:r>
            <a:r>
              <a:rPr b="1" i="1" lang="en-US" sz="10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down</a:t>
            </a: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— plausibly a corrective signal on top of size &amp; amenities.</a:t>
            </a:r>
            <a:endParaRPr b="0" i="0" sz="105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Build Year </a:t>
            </a: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phenomenon? (Central placing)</a:t>
            </a:r>
            <a:endParaRPr sz="10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2b01d1d69_1_2"/>
          <p:cNvSpPr/>
          <p:nvPr/>
        </p:nvSpPr>
        <p:spPr>
          <a:xfrm>
            <a:off x="365760" y="3200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5  ·  </a:t>
            </a:r>
            <a:r>
              <a:rPr b="1" lang="en-US" sz="10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Feature Importance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e2b01d1d69_1_2"/>
          <p:cNvSpPr/>
          <p:nvPr/>
        </p:nvSpPr>
        <p:spPr>
          <a:xfrm>
            <a:off x="365750" y="594354"/>
            <a:ext cx="84126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t/>
            </a:r>
            <a:endParaRPr b="1" sz="28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SHAP: what the model learned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t/>
            </a:r>
            <a:endParaRPr b="1" sz="28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9" name="Google Shape;209;g3e2b01d1d69_1_2"/>
          <p:cNvSpPr/>
          <p:nvPr/>
        </p:nvSpPr>
        <p:spPr>
          <a:xfrm>
            <a:off x="5029200" y="3246120"/>
            <a:ext cx="3657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6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All boosting/RF models hit a similar error floor → not algorithmic, structural: collapsed interior quality, district-level (not street) location, no time on market, single 2020 snapshot, asking ≠ transaction prices.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e2b01d1d69_1_2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e2b01d1d69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513" y="1131335"/>
            <a:ext cx="4128971" cy="329496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e2b01d1d69_1_2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11 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5  ·  SIGNIFICANCE &amp; LIMITS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Are the models significantly better</a:t>
            </a: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/fig9_ttest.png" id="220" name="Google Shape;2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17320"/>
            <a:ext cx="429768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365760" y="4297752"/>
            <a:ext cx="429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Figure 9  ·  10-fold CV RMSE per model (untuned)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846320" y="1417320"/>
            <a:ext cx="39319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846320" y="1417320"/>
            <a:ext cx="54864" cy="128016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5029200" y="1508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Paired t-test (untuned models)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983488" y="1805900"/>
            <a:ext cx="3657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Char char="-"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LightGBM, XGBoost and Random Forest are statistically indistinguishable. </a:t>
            </a: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(Ensemble methods)</a:t>
            </a:r>
            <a:endParaRPr b="0" i="0" sz="110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Char char="-"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Only the single Decision Tree is significantly worse.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846320" y="2834640"/>
            <a:ext cx="3931920" cy="1691640"/>
          </a:xfrm>
          <a:prstGeom prst="rect">
            <a:avLst/>
          </a:prstGeom>
          <a:solidFill>
            <a:srgbClr val="2F3C7E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983488" y="297673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Plateau ≈ €</a:t>
            </a: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240K</a:t>
            </a: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RMSE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983500" y="3063245"/>
            <a:ext cx="3657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6F5"/>
              </a:buClr>
              <a:buSzPts val="1050"/>
              <a:buFont typeface="Calibri"/>
              <a:buNone/>
            </a:pPr>
            <a:br>
              <a:rPr b="0" i="0" lang="en-US" sz="105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→ not algorithmic</a:t>
            </a:r>
            <a:r>
              <a:rPr lang="en-US" sz="1050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05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105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collapsed interior quality, (district-level (not street) location, no time on market, single 2020 snapshot, asking ≠ transaction prices.)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12 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4F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2b01d1d69_0_31"/>
          <p:cNvSpPr/>
          <p:nvPr/>
        </p:nvSpPr>
        <p:spPr>
          <a:xfrm>
            <a:off x="365760" y="3200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5  ·  SIGNIFICANCE &amp; LIMITS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2b01d1d69_0_31"/>
          <p:cNvSpPr/>
          <p:nvPr/>
        </p:nvSpPr>
        <p:spPr>
          <a:xfrm>
            <a:off x="365760" y="59436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Are the models significantly better</a:t>
            </a: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/fig9_ttest.png" id="238" name="Google Shape;238;g3e2b01d1d69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17320"/>
            <a:ext cx="4297679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e2b01d1d69_0_31"/>
          <p:cNvSpPr/>
          <p:nvPr/>
        </p:nvSpPr>
        <p:spPr>
          <a:xfrm>
            <a:off x="365760" y="4187952"/>
            <a:ext cx="429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10-fold CV RMSE per model (untuned)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2b01d1d69_0_31"/>
          <p:cNvSpPr/>
          <p:nvPr/>
        </p:nvSpPr>
        <p:spPr>
          <a:xfrm>
            <a:off x="5029200" y="3246120"/>
            <a:ext cx="3657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6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All boosting/RF models hit a similar error floor → not algorithmic, structural: collapsed interior quality, district-level (not street) location, no time on market, single 2020 snapshot, asking ≠ transaction prices.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e2b01d1d69_0_31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3e2b01d1d69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5150" y="1417325"/>
            <a:ext cx="2601549" cy="277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e2b01d1d69_0_31"/>
          <p:cNvSpPr/>
          <p:nvPr/>
        </p:nvSpPr>
        <p:spPr>
          <a:xfrm>
            <a:off x="4480560" y="4187952"/>
            <a:ext cx="429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Bias-Variance Tradeoff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2b01d1d69_0_31"/>
          <p:cNvSpPr/>
          <p:nvPr/>
        </p:nvSpPr>
        <p:spPr>
          <a:xfrm>
            <a:off x="6975875" y="3129650"/>
            <a:ext cx="861900" cy="771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245" name="Google Shape;245;g3e2b01d1d69_0_31"/>
          <p:cNvSpPr/>
          <p:nvPr/>
        </p:nvSpPr>
        <p:spPr>
          <a:xfrm>
            <a:off x="6014150" y="2149925"/>
            <a:ext cx="789300" cy="771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246" name="Google Shape;246;g3e2b01d1d69_0_31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 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2b01d1d69_1_19"/>
          <p:cNvSpPr/>
          <p:nvPr/>
        </p:nvSpPr>
        <p:spPr>
          <a:xfrm>
            <a:off x="365760" y="3200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5  ·  SIGNIFICANCE &amp; LIMITS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2b01d1d69_1_19"/>
          <p:cNvSpPr/>
          <p:nvPr/>
        </p:nvSpPr>
        <p:spPr>
          <a:xfrm>
            <a:off x="365760" y="59436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Are the models significantly better</a:t>
            </a: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2b01d1d69_1_19"/>
          <p:cNvSpPr/>
          <p:nvPr/>
        </p:nvSpPr>
        <p:spPr>
          <a:xfrm>
            <a:off x="2314522" y="4535515"/>
            <a:ext cx="429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10-fold CV RMSE per model (tuned)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2b01d1d69_1_19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e2b01d1d69_1_19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g3e2b01d1d69_1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063" y="1386960"/>
            <a:ext cx="5435879" cy="299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2b01d1d69_0_53"/>
          <p:cNvSpPr/>
          <p:nvPr/>
        </p:nvSpPr>
        <p:spPr>
          <a:xfrm>
            <a:off x="365760" y="3200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5  ·  </a:t>
            </a:r>
            <a:r>
              <a:rPr b="1" lang="en-US" sz="10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e2b01d1d69_0_53"/>
          <p:cNvSpPr/>
          <p:nvPr/>
        </p:nvSpPr>
        <p:spPr>
          <a:xfrm>
            <a:off x="365760" y="59436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e2b01d1d69_0_53"/>
          <p:cNvSpPr/>
          <p:nvPr/>
        </p:nvSpPr>
        <p:spPr>
          <a:xfrm>
            <a:off x="5029200" y="3246120"/>
            <a:ext cx="3657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6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All boosting/RF models hit a similar error floor → not algorithmic, structural: collapsed interior quality, district-level (not street) location, no time on market, single 2020 snapshot, asking ≠ transaction prices.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2b01d1d69_0_53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2b01d1d69_0_53"/>
          <p:cNvSpPr txBox="1"/>
          <p:nvPr/>
        </p:nvSpPr>
        <p:spPr>
          <a:xfrm>
            <a:off x="770400" y="1234550"/>
            <a:ext cx="760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(1): Which machine learning model achieves the best predictive performance?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(2): Is the improvement significant, justify greater complexity (black-box model)?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8" name="Google Shape;268;g3e2b01d1d69_0_53"/>
          <p:cNvSpPr txBox="1"/>
          <p:nvPr/>
        </p:nvSpPr>
        <p:spPr>
          <a:xfrm>
            <a:off x="466325" y="2107175"/>
            <a:ext cx="888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(1) The best performing model for this regression task is LightGBM </a:t>
            </a:r>
            <a:b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-&gt; longest amount of training and testing time. (time-performance)</a:t>
            </a:r>
            <a:b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-&gt; … (see report)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(2) LightGBM has with  hyperparameter tuning a statistical significantly better performance against </a:t>
            </a:r>
            <a:b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XGBoost and Random Forest (But: not without tuning).</a:t>
            </a:r>
            <a:b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-&gt; XAI techniques (data investigation, bias considerations)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-&gt; Domain vs. statistical differences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-&gt; … (see report)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9" name="Google Shape;269;g3e2b01d1d69_0_53"/>
          <p:cNvSpPr/>
          <p:nvPr/>
        </p:nvSpPr>
        <p:spPr>
          <a:xfrm>
            <a:off x="2163135" y="40904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Feature </a:t>
            </a:r>
            <a:r>
              <a:rPr b="1" lang="en-US" sz="12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r>
              <a:rPr b="1" lang="en-US" sz="12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, Project Management, Complexity is not always better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e2b01d1d69_0_53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14 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6  ·  ETHICS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Bias, transparency, and consequences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65760" y="141732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365760" y="1417320"/>
            <a:ext cx="2697480" cy="54864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502920" y="15544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Selection bias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02920" y="1874520"/>
            <a:ext cx="2423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Only online listings during a short 2020 window — excludes private sales and off-market transactions.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200400" y="141732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200400" y="1417320"/>
            <a:ext cx="2697480" cy="54864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3337560" y="15544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Omitted variable bias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337560" y="1874520"/>
            <a:ext cx="2423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Missing features (interior quality, micro-location, time on market) are correlated with both price and included predictors.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035040" y="141732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6035040" y="1417320"/>
            <a:ext cx="2697480" cy="54864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172200" y="15544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Societal bias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172200" y="1874520"/>
            <a:ext cx="2423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geographic price gradient the model reproduces is a product of urban planning and demographic sorting, not a neutral fact.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The Five C's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65760" y="3657600"/>
            <a:ext cx="1600200" cy="868680"/>
          </a:xfrm>
          <a:prstGeom prst="rect">
            <a:avLst/>
          </a:prstGeom>
          <a:solidFill>
            <a:srgbClr val="FCF6F5"/>
          </a:solidFill>
          <a:ln cap="flat" cmpd="sng" w="9525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411480" y="370332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Consent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11480" y="397764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scraped public listings — ambiguous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2057400" y="3657600"/>
            <a:ext cx="1600200" cy="868680"/>
          </a:xfrm>
          <a:prstGeom prst="rect">
            <a:avLst/>
          </a:prstGeom>
          <a:solidFill>
            <a:srgbClr val="FCF6F5"/>
          </a:solidFill>
          <a:ln cap="flat" cmpd="sng" w="9525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2103120" y="370332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Clarity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2103120" y="397764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advertised, not transaction, price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749040" y="3657600"/>
            <a:ext cx="1600200" cy="868680"/>
          </a:xfrm>
          <a:prstGeom prst="rect">
            <a:avLst/>
          </a:prstGeom>
          <a:solidFill>
            <a:srgbClr val="FCF6F5"/>
          </a:solidFill>
          <a:ln cap="flat" cmpd="sng" w="9525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3794760" y="370332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Consistency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3794760" y="397764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needs re-training plan (drift)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440680" y="3657600"/>
            <a:ext cx="1600200" cy="868680"/>
          </a:xfrm>
          <a:prstGeom prst="rect">
            <a:avLst/>
          </a:prstGeom>
          <a:solidFill>
            <a:srgbClr val="FCF6F5"/>
          </a:solidFill>
          <a:ln cap="flat" cmpd="sng" w="9525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486400" y="370332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Control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486400" y="397764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SHAP for per-prediction transparency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7132320" y="3657600"/>
            <a:ext cx="1600200" cy="868680"/>
          </a:xfrm>
          <a:prstGeom prst="rect">
            <a:avLst/>
          </a:prstGeom>
          <a:solidFill>
            <a:srgbClr val="FCF6F5"/>
          </a:solidFill>
          <a:ln cap="flat" cmpd="sng" w="9525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7178040" y="370332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Consequences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7178040" y="397764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support, never replace, appraisal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15 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/>
          <p:nvPr/>
        </p:nvSpPr>
        <p:spPr>
          <a:xfrm>
            <a:off x="365760" y="320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7  ·  CONCLUSION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Answering the research 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365760" y="1417320"/>
            <a:ext cx="841248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365760" y="1417320"/>
            <a:ext cx="54864" cy="141732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594360" y="15087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RQ1  ·  Which model is best?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94360" y="18745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r>
              <a:rPr b="0" i="0" lang="en-US" sz="12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— RMSE €237,751, MAE €104,956, MAPE 14.58%, R² 0.945. About a 48% RMSE reduction over the linear regression baseline. Boosting models as a group beat Ridge/ElasticNet and Random Forest, consistent with sequential residual fitting.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65760" y="2971800"/>
            <a:ext cx="841248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365760" y="2971800"/>
            <a:ext cx="54864" cy="1554480"/>
          </a:xfrm>
          <a:prstGeom prst="rect">
            <a:avLst/>
          </a:prstGeom>
          <a:solidFill>
            <a:srgbClr val="2F3C7E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594360" y="3063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RQ2  ·  Is the improvement worth the complexity?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94360" y="3429000"/>
            <a:ext cx="8046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Conditional yes. </a:t>
            </a:r>
            <a:r>
              <a:rPr b="0" i="0" lang="en-US" sz="12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gain over a sensible linear baseline is large, but LightGBM, XGBoost and Random Forest are statistically indistinguishable on the untuned t-test. Deploying LightGBM means weighing its longer training time and black-box character against a fairly modest accuracy gain — XAI tooling (SHAP) does the heavy lifting on transparency.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16 /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000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/>
          <p:nvPr/>
        </p:nvSpPr>
        <p:spPr>
          <a:xfrm>
            <a:off x="457200" y="457200"/>
            <a:ext cx="365760" cy="45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 7  · 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17 </a:t>
            </a:r>
            <a:r>
              <a:rPr b="0" i="0" lang="en-US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023550" y="2206050"/>
            <a:ext cx="3096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Our Proposal of  </a:t>
            </a: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Deployment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2bf401ff6_2_0"/>
          <p:cNvSpPr/>
          <p:nvPr/>
        </p:nvSpPr>
        <p:spPr>
          <a:xfrm>
            <a:off x="365760" y="3200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CHAPTER 7  ·  CONCLUSION</a:t>
            </a:r>
            <a:endParaRPr/>
          </a:p>
        </p:txBody>
      </p:sp>
      <p:sp>
        <p:nvSpPr>
          <p:cNvPr id="340" name="Google Shape;340;g3e2bf401ff6_2_0"/>
          <p:cNvSpPr/>
          <p:nvPr/>
        </p:nvSpPr>
        <p:spPr>
          <a:xfrm>
            <a:off x="365760" y="59436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Next step</a:t>
            </a:r>
            <a:r>
              <a:rPr b="1" lang="en-US" sz="2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endParaRPr/>
          </a:p>
        </p:txBody>
      </p:sp>
      <p:sp>
        <p:nvSpPr>
          <p:cNvPr id="341" name="Google Shape;341;g3e2bf401ff6_2_0"/>
          <p:cNvSpPr/>
          <p:nvPr/>
        </p:nvSpPr>
        <p:spPr>
          <a:xfrm>
            <a:off x="365760" y="1507545"/>
            <a:ext cx="2743200" cy="128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Calibrated uncertainty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Replace the fixed MAPE band with per-district residual quantiles or LightGBM quantile regression, reflecting heteroscedasticity.</a:t>
            </a:r>
            <a:endParaRPr/>
          </a:p>
        </p:txBody>
      </p:sp>
      <p:sp>
        <p:nvSpPr>
          <p:cNvPr id="342" name="Google Shape;342;g3e2bf401ff6_2_0"/>
          <p:cNvSpPr/>
          <p:nvPr/>
        </p:nvSpPr>
        <p:spPr>
          <a:xfrm>
            <a:off x="365760" y="1507545"/>
            <a:ext cx="2743200" cy="4560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2bf401ff6_2_0"/>
          <p:cNvSpPr/>
          <p:nvPr/>
        </p:nvSpPr>
        <p:spPr>
          <a:xfrm>
            <a:off x="3200400" y="3001470"/>
            <a:ext cx="2743200" cy="128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Fresh data + drift monitoring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Re-collect from current listings; the 2020 snapshot will not remain representative. Schedule periodic re-training.</a:t>
            </a:r>
            <a:endParaRPr/>
          </a:p>
        </p:txBody>
      </p:sp>
      <p:sp>
        <p:nvSpPr>
          <p:cNvPr id="344" name="Google Shape;344;g3e2bf401ff6_2_0"/>
          <p:cNvSpPr/>
          <p:nvPr/>
        </p:nvSpPr>
        <p:spPr>
          <a:xfrm>
            <a:off x="3200400" y="3001470"/>
            <a:ext cx="2743200" cy="4560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e2bf401ff6_2_0"/>
          <p:cNvSpPr/>
          <p:nvPr/>
        </p:nvSpPr>
        <p:spPr>
          <a:xfrm>
            <a:off x="6035040" y="1507545"/>
            <a:ext cx="2743200" cy="128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Asking vs. transaction gap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Either reframe the output as an advertised price, or link to transaction-price data from a public registry.</a:t>
            </a:r>
            <a:endParaRPr/>
          </a:p>
        </p:txBody>
      </p:sp>
      <p:sp>
        <p:nvSpPr>
          <p:cNvPr id="346" name="Google Shape;346;g3e2bf401ff6_2_0"/>
          <p:cNvSpPr/>
          <p:nvPr/>
        </p:nvSpPr>
        <p:spPr>
          <a:xfrm>
            <a:off x="6035040" y="1507545"/>
            <a:ext cx="2743200" cy="45600"/>
          </a:xfrm>
          <a:prstGeom prst="rect">
            <a:avLst/>
          </a:prstGeom>
          <a:solidFill>
            <a:srgbClr val="990011"/>
          </a:solidFill>
          <a:ln cap="flat" cmpd="sng" w="12700">
            <a:solidFill>
              <a:srgbClr val="990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e2bf401ff6_2_0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/>
          </a:p>
        </p:txBody>
      </p:sp>
      <p:sp>
        <p:nvSpPr>
          <p:cNvPr id="348" name="Google Shape;348;g3e2bf401ff6_2_0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18 </a:t>
            </a:r>
            <a:r>
              <a:rPr b="0" i="0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000C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2bf401ff6_2_18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Predicting Property Prices in Madrid  ·  APDS T-786</a:t>
            </a:r>
            <a:endParaRPr>
              <a:solidFill>
                <a:srgbClr val="FCF6F5"/>
              </a:solidFill>
            </a:endParaRPr>
          </a:p>
        </p:txBody>
      </p:sp>
      <p:sp>
        <p:nvSpPr>
          <p:cNvPr id="354" name="Google Shape;354;g3e2bf401ff6_2_18"/>
          <p:cNvSpPr/>
          <p:nvPr/>
        </p:nvSpPr>
        <p:spPr>
          <a:xfrm>
            <a:off x="8229600" y="4828032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CF6F5"/>
                </a:solidFill>
                <a:latin typeface="Calibri"/>
                <a:ea typeface="Calibri"/>
                <a:cs typeface="Calibri"/>
                <a:sym typeface="Calibri"/>
              </a:rPr>
              <a:t>19 / 19</a:t>
            </a:r>
            <a:endParaRPr>
              <a:solidFill>
                <a:srgbClr val="FCF6F5"/>
              </a:solidFill>
            </a:endParaRPr>
          </a:p>
        </p:txBody>
      </p:sp>
      <p:sp>
        <p:nvSpPr>
          <p:cNvPr id="355" name="Google Shape;355;g3e2bf401ff6_2_18"/>
          <p:cNvSpPr/>
          <p:nvPr/>
        </p:nvSpPr>
        <p:spPr>
          <a:xfrm>
            <a:off x="1505100" y="2297400"/>
            <a:ext cx="613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CF6F5"/>
                </a:solidFill>
                <a:latin typeface="Georgia"/>
                <a:ea typeface="Georgia"/>
                <a:cs typeface="Georgia"/>
                <a:sym typeface="Georgia"/>
              </a:rPr>
              <a:t>Thank you  ·  Questions?</a:t>
            </a:r>
            <a:endParaRPr sz="3000">
              <a:solidFill>
                <a:srgbClr val="FCF6F5"/>
              </a:solidFill>
            </a:endParaRPr>
          </a:p>
        </p:txBody>
      </p:sp>
      <p:sp>
        <p:nvSpPr>
          <p:cNvPr id="356" name="Google Shape;356;g3e2bf401ff6_2_18"/>
          <p:cNvSpPr/>
          <p:nvPr/>
        </p:nvSpPr>
        <p:spPr>
          <a:xfrm>
            <a:off x="457200" y="457200"/>
            <a:ext cx="365700" cy="4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2026-05-17T10:43:07Z</dcterms:created>
  <dc:creator>Davíð Rúnar Matthíasson, Iván Luque García, Julian Lorenz</dc:creator>
</cp:coreProperties>
</file>